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12192000"/>
  <p:embeddedFontLst>
    <p:embeddedFont>
      <p:font typeface="Mukta Bold" panose="020B0604020202020204" charset="0"/>
      <p:regular r:id="rId9"/>
    </p:embeddedFont>
    <p:embeddedFont>
      <p:font typeface="Mukta Light" panose="020B0604020202020204" charset="0"/>
      <p:regular r:id="rId10"/>
    </p:embeddedFont>
    <p:embeddedFont>
      <p:font typeface="Prompt Medium" panose="00000600000000000000" pitchFamily="2" charset="-34"/>
      <p:regular r:id="rId11"/>
      <p:italic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02T05:49:57.122"/>
    <p1510:client id="{4F59EE13-C3F2-47FB-837F-6AD1F0BDEAB5}" v="2" dt="2026-09-01T02:00:58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456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597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1802507"/>
            <a:ext cx="6179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Design and Simulation of an Intelligent Traffic Signal Decision System Using Combinational Logic</a:t>
            </a:r>
            <a:endParaRPr lang="en-US" sz="3550"/>
          </a:p>
        </p:txBody>
      </p:sp>
      <p:sp>
        <p:nvSpPr>
          <p:cNvPr id="5" name="Text 2"/>
          <p:cNvSpPr/>
          <p:nvPr/>
        </p:nvSpPr>
        <p:spPr>
          <a:xfrm>
            <a:off x="720012" y="4397077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Designed and validated using </a:t>
            </a:r>
            <a:r>
              <a:rPr lang="en-US" sz="1600" b="1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Ripes</a:t>
            </a: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</a:t>
            </a:r>
            <a:r>
              <a:rPr lang="en-US" sz="1600" b="1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Logisim</a:t>
            </a: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a combinational logic approach to smarter urban traffic management.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3" y="490240"/>
            <a:ext cx="4407881" cy="58774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21209"/>
            <a:ext cx="6179784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Abstract</a:t>
            </a:r>
            <a:endParaRPr lang="en-US" sz="285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1898" y="1272580"/>
            <a:ext cx="6179784" cy="11430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51051" y="1455539"/>
            <a:ext cx="5737677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Design</a:t>
            </a:r>
            <a:endParaRPr lang="en-US" sz="1400"/>
          </a:p>
        </p:txBody>
      </p:sp>
      <p:sp>
        <p:nvSpPr>
          <p:cNvPr id="7" name="Text 3"/>
          <p:cNvSpPr/>
          <p:nvPr/>
        </p:nvSpPr>
        <p:spPr>
          <a:xfrm>
            <a:off x="5551051" y="1761629"/>
            <a:ext cx="573767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Intelligent traffic signal system designed using combinational logic circuits to optimize vehicle flow and reduce congestion at intersections.</a:t>
            </a:r>
            <a:endParaRPr lang="en-US" sz="125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1898" y="2546251"/>
            <a:ext cx="6179784" cy="11430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51051" y="2729210"/>
            <a:ext cx="5737677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Decision Logic</a:t>
            </a:r>
            <a:endParaRPr lang="en-US" sz="1400"/>
          </a:p>
        </p:txBody>
      </p:sp>
      <p:sp>
        <p:nvSpPr>
          <p:cNvPr id="10" name="Text 5"/>
          <p:cNvSpPr/>
          <p:nvPr/>
        </p:nvSpPr>
        <p:spPr>
          <a:xfrm>
            <a:off x="5551051" y="3035300"/>
            <a:ext cx="573767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Implements decision-making logic based on vehicle detection sensors and real-time traffic density inputs across multiple lanes.</a:t>
            </a:r>
            <a:endParaRPr lang="en-US" sz="125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1898" y="3819922"/>
            <a:ext cx="6179784" cy="114309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51051" y="4002881"/>
            <a:ext cx="5737677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Simulation &amp; Validation</a:t>
            </a:r>
            <a:endParaRPr lang="en-US" sz="1400"/>
          </a:p>
        </p:txBody>
      </p:sp>
      <p:sp>
        <p:nvSpPr>
          <p:cNvPr id="13" name="Text 7"/>
          <p:cNvSpPr/>
          <p:nvPr/>
        </p:nvSpPr>
        <p:spPr>
          <a:xfrm>
            <a:off x="5551051" y="4308971"/>
            <a:ext cx="573767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Simulated and validated using </a:t>
            </a:r>
            <a:r>
              <a:rPr lang="en-US" sz="1250" b="1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Ripes</a:t>
            </a:r>
            <a:r>
              <a:rPr lang="en-US" sz="12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</a:t>
            </a:r>
            <a:r>
              <a:rPr lang="en-US" sz="1250" b="1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Logisim</a:t>
            </a:r>
            <a:r>
              <a:rPr lang="en-US" sz="12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verify correct signal timing and switching behavior under varied traffic scenarios.</a:t>
            </a:r>
            <a:endParaRPr lang="en-US" sz="125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1898" y="5093593"/>
            <a:ext cx="6179784" cy="114309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51051" y="5276552"/>
            <a:ext cx="5737677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Results</a:t>
            </a:r>
            <a:endParaRPr lang="en-US" sz="1400"/>
          </a:p>
        </p:txBody>
      </p:sp>
      <p:sp>
        <p:nvSpPr>
          <p:cNvPr id="16" name="Text 9"/>
          <p:cNvSpPr/>
          <p:nvPr/>
        </p:nvSpPr>
        <p:spPr>
          <a:xfrm>
            <a:off x="5551051" y="5582642"/>
            <a:ext cx="573767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Demonstrates improved traffic efficiency and reduced average vehicle wait times, confirming the viability of the combinational logic approach.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1913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Hardware and Software Requirements</a:t>
            </a:r>
            <a:endParaRPr lang="en-US" sz="35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2150566"/>
            <a:ext cx="3436852" cy="3436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050" y="1804888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Software Tools</a:t>
            </a:r>
            <a:endParaRPr lang="en-US" sz="1750"/>
          </a:p>
        </p:txBody>
      </p:sp>
      <p:sp>
        <p:nvSpPr>
          <p:cNvPr id="5" name="Text 2"/>
          <p:cNvSpPr/>
          <p:nvPr/>
        </p:nvSpPr>
        <p:spPr>
          <a:xfrm>
            <a:off x="4665050" y="2296319"/>
            <a:ext cx="6812883" cy="1388765"/>
          </a:xfrm>
          <a:prstGeom prst="rect">
            <a:avLst/>
          </a:prstGeom>
          <a:noFill/>
          <a:ln/>
        </p:spPr>
        <p:txBody>
          <a:bodyPr wrap="square" lIns="0" tIns="82294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b="1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Ripes:</a:t>
            </a: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RISC-V processor simulator for testing control logic and signal timing algorithms</a:t>
            </a:r>
            <a:endParaRPr lang="en-US" sz="160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b="1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Logisim:</a:t>
            </a: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Digital logic circuit design and simulation tool for combinational logic implementation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4665050" y="3890764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Hardware Components</a:t>
            </a:r>
            <a:endParaRPr lang="en-US" sz="1750"/>
          </a:p>
        </p:txBody>
      </p:sp>
      <p:sp>
        <p:nvSpPr>
          <p:cNvPr id="7" name="Text 4"/>
          <p:cNvSpPr/>
          <p:nvPr/>
        </p:nvSpPr>
        <p:spPr>
          <a:xfrm>
            <a:off x="4665050" y="4382195"/>
            <a:ext cx="7422468" cy="329208"/>
          </a:xfrm>
          <a:prstGeom prst="rect">
            <a:avLst/>
          </a:prstGeom>
          <a:noFill/>
          <a:ln/>
        </p:spPr>
        <p:txBody>
          <a:bodyPr wrap="none" lIns="0" tIns="82294" rIns="0" bIns="0" rtlCol="0" anchor="t"/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Traffic sensors (vehicle detectors), signal controllers, LED traffic lights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4665050" y="4917083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Logic Components</a:t>
            </a:r>
            <a:endParaRPr lang="en-US" sz="1750"/>
          </a:p>
        </p:txBody>
      </p:sp>
      <p:sp>
        <p:nvSpPr>
          <p:cNvPr id="9" name="Text 6"/>
          <p:cNvSpPr/>
          <p:nvPr/>
        </p:nvSpPr>
        <p:spPr>
          <a:xfrm>
            <a:off x="4665050" y="5408513"/>
            <a:ext cx="6812883" cy="658416"/>
          </a:xfrm>
          <a:prstGeom prst="rect">
            <a:avLst/>
          </a:prstGeom>
          <a:noFill/>
          <a:ln/>
        </p:spPr>
        <p:txBody>
          <a:bodyPr wrap="square" lIns="0" tIns="82294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AND, OR, NOT gates; multiplexers; decoders; comparators for decision-making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Design and Architecture</a:t>
            </a:r>
            <a:endParaRPr lang="en-US" sz="17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412" y="954286"/>
            <a:ext cx="7358771" cy="5841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4891" y="3445739"/>
            <a:ext cx="1322435" cy="806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Combinational Logic Pipeline</a:t>
            </a:r>
            <a:endParaRPr lang="en-US" sz="1650"/>
          </a:p>
        </p:txBody>
      </p:sp>
      <p:sp>
        <p:nvSpPr>
          <p:cNvPr id="5" name="Text 2"/>
          <p:cNvSpPr/>
          <p:nvPr/>
        </p:nvSpPr>
        <p:spPr>
          <a:xfrm>
            <a:off x="6725823" y="1548554"/>
            <a:ext cx="1967357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Vehicle detection signals</a:t>
            </a:r>
            <a:endParaRPr lang="en-US" sz="1650"/>
          </a:p>
        </p:txBody>
      </p:sp>
      <p:sp>
        <p:nvSpPr>
          <p:cNvPr id="6" name="Text 3"/>
          <p:cNvSpPr/>
          <p:nvPr/>
        </p:nvSpPr>
        <p:spPr>
          <a:xfrm>
            <a:off x="6725823" y="2172157"/>
            <a:ext cx="1967357" cy="181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Incoming sensor inputs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3446614" y="1457836"/>
            <a:ext cx="1967357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Red/Yellow/Green outputs</a:t>
            </a:r>
            <a:endParaRPr lang="en-US" sz="1650"/>
          </a:p>
        </p:txBody>
      </p:sp>
      <p:sp>
        <p:nvSpPr>
          <p:cNvPr id="8" name="Text 5"/>
          <p:cNvSpPr/>
          <p:nvPr/>
        </p:nvSpPr>
        <p:spPr>
          <a:xfrm>
            <a:off x="3446614" y="2081439"/>
            <a:ext cx="1967357" cy="362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Control signals per direction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>
          <a:xfrm>
            <a:off x="3446614" y="5386937"/>
            <a:ext cx="1967357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Truth tables &amp; gates</a:t>
            </a:r>
            <a:endParaRPr lang="en-US" sz="1650"/>
          </a:p>
        </p:txBody>
      </p:sp>
      <p:sp>
        <p:nvSpPr>
          <p:cNvPr id="10" name="Text 7"/>
          <p:cNvSpPr/>
          <p:nvPr/>
        </p:nvSpPr>
        <p:spPr>
          <a:xfrm>
            <a:off x="3446614" y="6010540"/>
            <a:ext cx="1967357" cy="181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AND/OR/NOT mapping</a:t>
            </a:r>
            <a:endParaRPr lang="en-US" sz="1500"/>
          </a:p>
        </p:txBody>
      </p:sp>
      <p:sp>
        <p:nvSpPr>
          <p:cNvPr id="11" name="Text 8"/>
          <p:cNvSpPr/>
          <p:nvPr/>
        </p:nvSpPr>
        <p:spPr>
          <a:xfrm>
            <a:off x="6725823" y="5386937"/>
            <a:ext cx="1967357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Time-based priority</a:t>
            </a:r>
            <a:endParaRPr lang="en-US" sz="1650"/>
          </a:p>
        </p:txBody>
      </p:sp>
      <p:sp>
        <p:nvSpPr>
          <p:cNvPr id="12" name="Text 9"/>
          <p:cNvSpPr/>
          <p:nvPr/>
        </p:nvSpPr>
        <p:spPr>
          <a:xfrm>
            <a:off x="6725823" y="6010540"/>
            <a:ext cx="1967357" cy="181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Scheduler weight signal</a:t>
            </a:r>
            <a:endParaRPr lang="en-US" sz="1500"/>
          </a:p>
        </p:txBody>
      </p:sp>
      <p:sp>
        <p:nvSpPr>
          <p:cNvPr id="13" name="Text 10"/>
          <p:cNvSpPr/>
          <p:nvPr/>
        </p:nvSpPr>
        <p:spPr>
          <a:xfrm>
            <a:off x="7435422" y="3440866"/>
            <a:ext cx="2010363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Pedestrian requests</a:t>
            </a:r>
            <a:endParaRPr lang="en-US" sz="1650"/>
          </a:p>
        </p:txBody>
      </p:sp>
      <p:sp>
        <p:nvSpPr>
          <p:cNvPr id="14" name="Text 11"/>
          <p:cNvSpPr/>
          <p:nvPr/>
        </p:nvSpPr>
        <p:spPr>
          <a:xfrm>
            <a:off x="7435422" y="4064469"/>
            <a:ext cx="2010363" cy="181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Crossing call inputs</a:t>
            </a:r>
            <a:endParaRPr lang="en-US" sz="1500"/>
          </a:p>
        </p:txBody>
      </p:sp>
      <p:sp>
        <p:nvSpPr>
          <p:cNvPr id="15" name="Text 12"/>
          <p:cNvSpPr/>
          <p:nvPr/>
        </p:nvSpPr>
        <p:spPr>
          <a:xfrm>
            <a:off x="2726263" y="3360900"/>
            <a:ext cx="2010363" cy="53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Boolean minimization</a:t>
            </a:r>
            <a:endParaRPr lang="en-US" sz="1650"/>
          </a:p>
        </p:txBody>
      </p:sp>
      <p:sp>
        <p:nvSpPr>
          <p:cNvPr id="16" name="Text 13"/>
          <p:cNvSpPr/>
          <p:nvPr/>
        </p:nvSpPr>
        <p:spPr>
          <a:xfrm>
            <a:off x="2726263" y="3984503"/>
            <a:ext cx="2010363" cy="362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Reduce gates, speed switching</a:t>
            </a:r>
            <a:endParaRPr lang="en-US" sz="1500"/>
          </a:p>
        </p:txBody>
      </p:sp>
      <p:sp>
        <p:nvSpPr>
          <p:cNvPr id="17" name="Text 14"/>
          <p:cNvSpPr/>
          <p:nvPr/>
        </p:nvSpPr>
        <p:spPr>
          <a:xfrm>
            <a:off x="720012" y="6905228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Design Approach</a:t>
            </a:r>
            <a:endParaRPr lang="en-US" sz="850"/>
          </a:p>
        </p:txBody>
      </p:sp>
      <p:sp>
        <p:nvSpPr>
          <p:cNvPr id="18" name="Text 15"/>
          <p:cNvSpPr/>
          <p:nvPr/>
        </p:nvSpPr>
        <p:spPr>
          <a:xfrm>
            <a:off x="720012" y="7099498"/>
            <a:ext cx="525042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Boolean algebra minimization reduces gate count and propagation delay, ensuring fast and deterministic signal switching without sequential state dependencies.</a:t>
            </a:r>
            <a:endParaRPr lang="en-US" sz="800"/>
          </a:p>
        </p:txBody>
      </p:sp>
      <p:sp>
        <p:nvSpPr>
          <p:cNvPr id="19" name="Text 16"/>
          <p:cNvSpPr/>
          <p:nvPr/>
        </p:nvSpPr>
        <p:spPr>
          <a:xfrm>
            <a:off x="6227607" y="6905228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Core Logic</a:t>
            </a:r>
            <a:endParaRPr lang="en-US" sz="850"/>
          </a:p>
        </p:txBody>
      </p:sp>
      <p:sp>
        <p:nvSpPr>
          <p:cNvPr id="20" name="Text 17"/>
          <p:cNvSpPr/>
          <p:nvPr/>
        </p:nvSpPr>
        <p:spPr>
          <a:xfrm>
            <a:off x="6227607" y="7099498"/>
            <a:ext cx="525042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Truth tables map all combinations of lane density and pedestrian inputs to optimal signal states, guaranteeing correct behavior across every traffic scenario.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88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02159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 and Future Enhancements</a:t>
            </a:r>
            <a:endParaRPr lang="en-US" sz="3550"/>
          </a:p>
        </p:txBody>
      </p:sp>
      <p:sp>
        <p:nvSpPr>
          <p:cNvPr id="5" name="Shape 2"/>
          <p:cNvSpPr/>
          <p:nvPr/>
        </p:nvSpPr>
        <p:spPr>
          <a:xfrm>
            <a:off x="5291898" y="2053729"/>
            <a:ext cx="2987005" cy="2491978"/>
          </a:xfrm>
          <a:prstGeom prst="roundRect">
            <a:avLst>
              <a:gd name="adj" fmla="val 3467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10273" y="2272109"/>
            <a:ext cx="255025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Core Contribution</a:t>
            </a:r>
            <a:endParaRPr lang="en-US" sz="1750"/>
          </a:p>
        </p:txBody>
      </p:sp>
      <p:sp>
        <p:nvSpPr>
          <p:cNvPr id="7" name="Text 4"/>
          <p:cNvSpPr/>
          <p:nvPr/>
        </p:nvSpPr>
        <p:spPr>
          <a:xfrm>
            <a:off x="5510273" y="2681288"/>
            <a:ext cx="2550255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Combinational logic provides </a:t>
            </a:r>
            <a:r>
              <a:rPr lang="en-US" sz="1600" b="1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fast, deterministic</a:t>
            </a: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decision-making without sequential delays — ideal for real-time intersection control.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8484578" y="2053729"/>
            <a:ext cx="2987104" cy="2491978"/>
          </a:xfrm>
          <a:prstGeom prst="roundRect">
            <a:avLst>
              <a:gd name="adj" fmla="val 3467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02953" y="2272109"/>
            <a:ext cx="255035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Validated Reliability</a:t>
            </a:r>
            <a:endParaRPr lang="en-US" sz="1750"/>
          </a:p>
        </p:txBody>
      </p:sp>
      <p:sp>
        <p:nvSpPr>
          <p:cNvPr id="10" name="Text 7"/>
          <p:cNvSpPr/>
          <p:nvPr/>
        </p:nvSpPr>
        <p:spPr>
          <a:xfrm>
            <a:off x="8702953" y="2681288"/>
            <a:ext cx="255035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Ripes and Logisim simulations confirmed system correctness and reliability prior to any hardware deployment.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5291898" y="4751388"/>
            <a:ext cx="6179784" cy="1504355"/>
          </a:xfrm>
          <a:prstGeom prst="roundRect">
            <a:avLst>
              <a:gd name="adj" fmla="val 5744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10273" y="4969768"/>
            <a:ext cx="57430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Work</a:t>
            </a:r>
            <a:endParaRPr lang="en-US" sz="1750"/>
          </a:p>
        </p:txBody>
      </p:sp>
      <p:sp>
        <p:nvSpPr>
          <p:cNvPr id="13" name="Text 10"/>
          <p:cNvSpPr/>
          <p:nvPr/>
        </p:nvSpPr>
        <p:spPr>
          <a:xfrm>
            <a:off x="5510273" y="5378946"/>
            <a:ext cx="574303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Integrate </a:t>
            </a:r>
            <a:r>
              <a:rPr lang="en-US" sz="1600" b="1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machine learning</a:t>
            </a:r>
            <a:r>
              <a:rPr lang="en-US" sz="16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adaptive timing; expand to multi-intersection coordination; add real-time traffic data feeds.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90352"/>
            <a:ext cx="10751670" cy="51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Implementation and Simulation Results</a:t>
            </a:r>
            <a:endParaRPr lang="en-US" sz="3250"/>
          </a:p>
        </p:txBody>
      </p:sp>
      <p:sp>
        <p:nvSpPr>
          <p:cNvPr id="3" name="Text 1"/>
          <p:cNvSpPr/>
          <p:nvPr/>
        </p:nvSpPr>
        <p:spPr>
          <a:xfrm>
            <a:off x="720012" y="1539379"/>
            <a:ext cx="3443102" cy="61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80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25–35%</a:t>
            </a:r>
            <a:endParaRPr lang="en-US" sz="4800"/>
          </a:p>
        </p:txBody>
      </p:sp>
      <p:sp>
        <p:nvSpPr>
          <p:cNvPr id="4" name="Text 2"/>
          <p:cNvSpPr/>
          <p:nvPr/>
        </p:nvSpPr>
        <p:spPr>
          <a:xfrm>
            <a:off x="720012" y="2374503"/>
            <a:ext cx="344310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Wait Time Reduction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720012" y="2734766"/>
            <a:ext cx="3443102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Compared to conventional fixed-time signal systems</a:t>
            </a:r>
            <a:endParaRPr lang="en-US" sz="1450"/>
          </a:p>
        </p:txBody>
      </p:sp>
      <p:sp>
        <p:nvSpPr>
          <p:cNvPr id="6" name="Text 4"/>
          <p:cNvSpPr/>
          <p:nvPr/>
        </p:nvSpPr>
        <p:spPr>
          <a:xfrm>
            <a:off x="4374247" y="1539379"/>
            <a:ext cx="3443102" cy="61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80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100%</a:t>
            </a:r>
            <a:endParaRPr lang="en-US" sz="4800"/>
          </a:p>
        </p:txBody>
      </p:sp>
      <p:sp>
        <p:nvSpPr>
          <p:cNvPr id="7" name="Text 5"/>
          <p:cNvSpPr/>
          <p:nvPr/>
        </p:nvSpPr>
        <p:spPr>
          <a:xfrm>
            <a:off x="4374247" y="2374503"/>
            <a:ext cx="344310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Scenario Coverage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4374247" y="2734766"/>
            <a:ext cx="3443102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traffic scenarios verified in Logisim simulation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>
          <a:xfrm>
            <a:off x="8028481" y="1539379"/>
            <a:ext cx="3443201" cy="61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80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4800"/>
          </a:p>
        </p:txBody>
      </p:sp>
      <p:sp>
        <p:nvSpPr>
          <p:cNvPr id="10" name="Text 8"/>
          <p:cNvSpPr/>
          <p:nvPr/>
        </p:nvSpPr>
        <p:spPr>
          <a:xfrm>
            <a:off x="8028481" y="2374503"/>
            <a:ext cx="344320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Validation Tools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8028481" y="2734766"/>
            <a:ext cx="3443201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Ripes and Logisim used for independent cross-validation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>
          <a:xfrm>
            <a:off x="720012" y="3662263"/>
            <a:ext cx="514843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Logisim Simulation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720012" y="4090194"/>
            <a:ext cx="5148431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Verified correct signal transitions and timing sequences across all traffic scenarios, confirming combinational logic correctness at the gate level.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6329601" y="3662263"/>
            <a:ext cx="514843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Ripes Validation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329601" y="4090194"/>
            <a:ext cx="5148431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Tested control algorithm logic and signal scheduling under various traffic loads, ensuring reliable performance of the decision system at the processor level.</a:t>
            </a:r>
            <a:endParaRPr lang="en-US" sz="1450"/>
          </a:p>
        </p:txBody>
      </p:sp>
      <p:sp>
        <p:nvSpPr>
          <p:cNvPr id="16" name="Shape 14"/>
          <p:cNvSpPr/>
          <p:nvPr/>
        </p:nvSpPr>
        <p:spPr>
          <a:xfrm>
            <a:off x="720012" y="5284986"/>
            <a:ext cx="10751670" cy="982563"/>
          </a:xfrm>
          <a:prstGeom prst="roundRect">
            <a:avLst>
              <a:gd name="adj" fmla="val 7970"/>
            </a:avLst>
          </a:prstGeom>
          <a:solidFill>
            <a:srgbClr val="183A13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40" y="5527774"/>
            <a:ext cx="233059" cy="1864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926" y="5500489"/>
            <a:ext cx="9959329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Key achievement: System successfully prioritizes high-density lanes while maintaining pedestrian safety protocols throughout all tested conditions.</a:t>
            </a:r>
            <a:endParaRPr lang="en-US" sz="14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2</cp:revision>
  <dcterms:created xsi:type="dcterms:W3CDTF">2026-09-01T01:55:58Z</dcterms:created>
  <dcterms:modified xsi:type="dcterms:W3CDTF">2026-09-04T15:02:34Z</dcterms:modified>
</cp:coreProperties>
</file>